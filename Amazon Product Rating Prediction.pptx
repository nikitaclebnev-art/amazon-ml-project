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4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关系图"/>
          <p:cNvPicPr>
            <a:picLocks noChangeAspect="1"/>
          </p:cNvPicPr>
          <p:nvPr/>
        </p:nvPicPr>
        <p:blipFill>
          <a:blip r:embed="rId2"/>
          <a:srcRect r="2528" b="10909"/>
          <a:stretch>
            <a:fillRect/>
          </a:stretch>
        </p:blipFill>
        <p:spPr>
          <a:xfrm>
            <a:off x="239184" y="692150"/>
            <a:ext cx="11885083" cy="6110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117" y="549275"/>
            <a:ext cx="12192000" cy="151130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>
            <p:ph type="subTitle" idx="1"/>
          </p:nvPr>
        </p:nvSpPr>
        <p:spPr>
          <a:xfrm>
            <a:off x="2544233" y="2492375"/>
            <a:ext cx="7393517" cy="12223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056" name="Rectangle 8"/>
          <p:cNvSpPr>
            <a:spLocks noChangeArrowheads="1"/>
          </p:cNvSpPr>
          <p:nvPr>
            <p:ph type="ctrTitle"/>
          </p:nvPr>
        </p:nvSpPr>
        <p:spPr>
          <a:xfrm>
            <a:off x="1007533" y="620713"/>
            <a:ext cx="103632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11" name="Rectangle 4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2" name="Rectangle 5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3" name="Rectangle 6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Замещающая дата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Замещающий 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Замещающий 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Замещающая дата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Замещающий 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ая дата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Замещающий 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3831447-C893-4FB7-A405-85B25DF4EE9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3831447-C893-4FB7-A405-85B25DF4EE9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117" y="333375"/>
            <a:ext cx="12192000" cy="100965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pic>
        <p:nvPicPr>
          <p:cNvPr id="1027" name="Picture 3" descr="关系图"/>
          <p:cNvPicPr>
            <a:picLocks noChangeAspect="1"/>
          </p:cNvPicPr>
          <p:nvPr/>
        </p:nvPicPr>
        <p:blipFill>
          <a:blip r:embed="rId12"/>
          <a:srcRect t="1094" r="8122" b="13318"/>
          <a:stretch>
            <a:fillRect/>
          </a:stretch>
        </p:blipFill>
        <p:spPr>
          <a:xfrm>
            <a:off x="7730067" y="4438650"/>
            <a:ext cx="4453467" cy="2333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5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30" name="Rectangle 6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1031" name="Rectangle 7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ldLvl="0" animBg="1"/>
      <p:bldP spid="1028" grpId="0" bldLvl="0"/>
    </p:bldLst>
  </p:timing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7745" y="709295"/>
            <a:ext cx="10363200" cy="2122805"/>
          </a:xfrm>
        </p:spPr>
        <p:txBody>
          <a:bodyPr>
            <a:normAutofit/>
          </a:bodyPr>
          <a:lstStyle/>
          <a:p>
            <a:r>
              <a:rPr lang="en-US" altLang="ru-RU"/>
              <a:t>Amazon Product Rating Prediction</a:t>
            </a:r>
            <a:endParaRPr lang="en-US" altLang="ru-RU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52400" y="5264785"/>
            <a:ext cx="4911725" cy="1459865"/>
          </a:xfrm>
        </p:spPr>
        <p:txBody>
          <a:bodyPr/>
          <a:lstStyle/>
          <a:p>
            <a:r>
              <a:rPr lang="" altLang="en-US"/>
              <a:t>Сделал</a:t>
            </a:r>
            <a:r>
              <a:rPr lang="en-US" altLang="en-US"/>
              <a:t>: </a:t>
            </a:r>
            <a:r>
              <a:rPr lang="" altLang="en-US"/>
              <a:t>Клебнев Никита</a:t>
            </a:r>
            <a:endParaRPr lang="" altLang="en-US"/>
          </a:p>
          <a:p>
            <a:r>
              <a:rPr lang="" altLang="en-US"/>
              <a:t>Группа</a:t>
            </a:r>
            <a:r>
              <a:rPr lang="en-US" altLang=""/>
              <a:t>: </a:t>
            </a:r>
            <a:r>
              <a:rPr lang="" altLang=""/>
              <a:t>ИС 22-2</a:t>
            </a:r>
            <a:endParaRPr lang="" altLang="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" altLang="ru-RU" sz="3600"/>
              <a:t>Задача </a:t>
            </a:r>
            <a:r>
              <a:rPr lang="" altLang="ru-RU"/>
              <a:t>проекта</a:t>
            </a:r>
            <a:endParaRPr lang="" alt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US"/>
              <a:t>Задача</a:t>
            </a:r>
            <a:r>
              <a:rPr lang="en-US" altLang="ru-RU"/>
              <a:t>: </a:t>
            </a:r>
            <a:r>
              <a:rPr lang="en-US" altLang="en-US"/>
              <a:t>Прогнозировать</a:t>
            </a:r>
            <a:r>
              <a:rPr lang="en-US" altLang="ru-RU"/>
              <a:t> </a:t>
            </a:r>
            <a:r>
              <a:rPr lang="en-US" altLang="en-US"/>
              <a:t>высокий</a:t>
            </a:r>
            <a:r>
              <a:rPr lang="en-US" altLang="ru-RU"/>
              <a:t> </a:t>
            </a:r>
            <a:r>
              <a:rPr lang="en-US" altLang="en-US"/>
              <a:t>рейтинг</a:t>
            </a:r>
            <a:r>
              <a:rPr lang="en-US" altLang="ru-RU"/>
              <a:t> </a:t>
            </a:r>
            <a:r>
              <a:rPr lang="en-US" altLang="en-US"/>
              <a:t>товаров</a:t>
            </a:r>
            <a:r>
              <a:rPr lang="en-US" altLang="ru-RU"/>
              <a:t> (</a:t>
            </a:r>
            <a:r>
              <a:rPr lang="en-US" altLang="en-US"/>
              <a:t>рейтинг</a:t>
            </a:r>
            <a:r>
              <a:rPr lang="en-US" altLang="ru-RU"/>
              <a:t> ≥ 4.0) </a:t>
            </a:r>
            <a:r>
              <a:rPr lang="en-US" altLang="en-US"/>
              <a:t>на</a:t>
            </a:r>
            <a:r>
              <a:rPr lang="en-US" altLang="ru-RU"/>
              <a:t> Amazon </a:t>
            </a:r>
            <a:r>
              <a:rPr lang="en-US" altLang="en-US"/>
              <a:t>на</a:t>
            </a:r>
            <a:r>
              <a:rPr lang="en-US" altLang="ru-RU"/>
              <a:t> </a:t>
            </a:r>
            <a:r>
              <a:rPr lang="en-US" altLang="en-US"/>
              <a:t>основе</a:t>
            </a:r>
            <a:r>
              <a:rPr lang="en-US" altLang="ru-RU"/>
              <a:t> </a:t>
            </a:r>
            <a:r>
              <a:rPr lang="en-US" altLang="en-US"/>
              <a:t>характеристик</a:t>
            </a:r>
            <a:r>
              <a:rPr lang="en-US" altLang="ru-RU"/>
              <a:t>.</a:t>
            </a:r>
            <a:endParaRPr lang="en-US" altLang="ru-RU"/>
          </a:p>
          <a:p>
            <a:pPr marL="0" indent="0">
              <a:buNone/>
            </a:pPr>
            <a:endParaRPr lang="en-US" altLang="ru-RU"/>
          </a:p>
          <a:p>
            <a:pPr>
              <a:buFont typeface="Wingdings" panose="05000000000000000000" charset="0"/>
              <a:buChar char="ü"/>
            </a:pPr>
            <a:r>
              <a:rPr lang="en-US" altLang="en-US"/>
              <a:t>Бизнес</a:t>
            </a:r>
            <a:r>
              <a:rPr lang="en-US" altLang="ru-RU"/>
              <a:t>-</a:t>
            </a:r>
            <a:r>
              <a:rPr lang="en-US" altLang="en-US"/>
              <a:t>контекст</a:t>
            </a:r>
            <a:r>
              <a:rPr lang="en-US" altLang="ru-RU"/>
              <a:t>: </a:t>
            </a:r>
            <a:r>
              <a:rPr lang="en-US" altLang="en-US"/>
              <a:t>Это</a:t>
            </a:r>
            <a:r>
              <a:rPr lang="en-US" altLang="ru-RU"/>
              <a:t> </a:t>
            </a:r>
            <a:r>
              <a:rPr lang="en-US" altLang="en-US"/>
              <a:t>поможет</a:t>
            </a:r>
            <a:r>
              <a:rPr lang="en-US" altLang="ru-RU"/>
              <a:t> </a:t>
            </a:r>
            <a:r>
              <a:rPr lang="en-US" altLang="en-US"/>
              <a:t>продавцам</a:t>
            </a:r>
            <a:r>
              <a:rPr lang="en-US" altLang="ru-RU"/>
              <a:t> </a:t>
            </a:r>
            <a:r>
              <a:rPr lang="en-US" altLang="en-US"/>
              <a:t>на</a:t>
            </a:r>
            <a:r>
              <a:rPr lang="en-US" altLang="ru-RU"/>
              <a:t> Amazon </a:t>
            </a:r>
            <a:r>
              <a:rPr lang="en-US" altLang="en-US"/>
              <a:t>улучшить</a:t>
            </a:r>
            <a:r>
              <a:rPr lang="en-US" altLang="ru-RU"/>
              <a:t> </a:t>
            </a:r>
            <a:r>
              <a:rPr lang="en-US" altLang="en-US"/>
              <a:t>стратегию</a:t>
            </a:r>
            <a:r>
              <a:rPr lang="en-US" altLang="ru-RU"/>
              <a:t> </a:t>
            </a:r>
            <a:r>
              <a:rPr lang="en-US" altLang="en-US"/>
              <a:t>рекламы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выделять</a:t>
            </a:r>
            <a:r>
              <a:rPr lang="en-US" altLang="ru-RU"/>
              <a:t> </a:t>
            </a:r>
            <a:r>
              <a:rPr lang="en-US" altLang="en-US"/>
              <a:t>товары</a:t>
            </a:r>
            <a:r>
              <a:rPr lang="en-US" altLang="ru-RU"/>
              <a:t> </a:t>
            </a:r>
            <a:r>
              <a:rPr lang="en-US" altLang="en-US"/>
              <a:t>с</a:t>
            </a:r>
            <a:r>
              <a:rPr lang="en-US" altLang="ru-RU"/>
              <a:t> </a:t>
            </a:r>
            <a:r>
              <a:rPr lang="en-US" altLang="en-US"/>
              <a:t>высоким</a:t>
            </a:r>
            <a:r>
              <a:rPr lang="en-US" altLang="ru-RU"/>
              <a:t> </a:t>
            </a:r>
            <a:r>
              <a:rPr lang="en-US" altLang="en-US"/>
              <a:t>рейтингом</a:t>
            </a:r>
            <a:r>
              <a:rPr lang="en-US" altLang="ru-RU"/>
              <a:t>.</a:t>
            </a:r>
            <a:endParaRPr lang="en-US" alt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3600"/>
              <a:t>Описание</a:t>
            </a:r>
            <a:r>
              <a:rPr lang="en-US" altLang="ru-RU" sz="3600"/>
              <a:t> </a:t>
            </a:r>
            <a:r>
              <a:rPr lang="en-US" altLang="en-US"/>
              <a:t>данных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" altLang="ru-RU" sz="1800"/>
          </a:p>
          <a:p>
            <a:endParaRPr lang="" altLang="ru-RU" sz="1800"/>
          </a:p>
          <a:p>
            <a:endParaRPr lang="" altLang="ru-RU" sz="1800"/>
          </a:p>
          <a:p>
            <a:endParaRPr lang="" altLang="ru-RU" sz="1800"/>
          </a:p>
          <a:p>
            <a:endParaRPr lang="" altLang="ru-RU" sz="1800"/>
          </a:p>
          <a:p>
            <a:endParaRPr lang="" altLang="ru-RU" sz="1800"/>
          </a:p>
          <a:p>
            <a:endParaRPr lang="" altLang="ru-RU" sz="1800"/>
          </a:p>
          <a:p>
            <a:endParaRPr lang="" altLang="ru-RU" sz="1800"/>
          </a:p>
          <a:p>
            <a:endParaRPr lang="" altLang="ru-RU" sz="1800"/>
          </a:p>
          <a:p>
            <a:endParaRPr lang="" altLang="ru-RU" sz="1800"/>
          </a:p>
          <a:p>
            <a:endParaRPr lang="" altLang="ru-RU" sz="1800"/>
          </a:p>
          <a:p>
            <a:endParaRPr lang="" altLang="ru-RU" sz="1800"/>
          </a:p>
          <a:p>
            <a:endParaRPr lang="" altLang="ru-RU" sz="1800"/>
          </a:p>
          <a:p>
            <a:endParaRPr lang="" altLang="ru-RU" sz="1800"/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238760" y="1684020"/>
            <a:ext cx="300926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" altLang="ru-RU"/>
              <a:t>Источник данных</a:t>
            </a:r>
            <a:r>
              <a:rPr lang="en-US" altLang="ru-RU"/>
              <a:t>: Kaggle</a:t>
            </a:r>
            <a:endParaRPr lang="en-US" altLang="ru-RU"/>
          </a:p>
          <a:p>
            <a:r>
              <a:rPr lang="en-US" altLang="en-US"/>
              <a:t>Содержит</a:t>
            </a:r>
            <a:r>
              <a:rPr lang="en-US" altLang="ru-RU"/>
              <a:t> 1465 </a:t>
            </a:r>
            <a:r>
              <a:rPr lang="en-US" altLang="en-US"/>
              <a:t>строк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16 </a:t>
            </a:r>
            <a:r>
              <a:rPr lang="en-US" altLang="en-US"/>
              <a:t>признаков</a:t>
            </a:r>
            <a:r>
              <a:rPr lang="en-US" altLang="ru-RU"/>
              <a:t>.</a:t>
            </a:r>
            <a:endParaRPr lang="en-US" altLang="ru-RU"/>
          </a:p>
          <a:p>
            <a:r>
              <a:rPr lang="en-US" altLang="en-US"/>
              <a:t>Признаки</a:t>
            </a:r>
            <a:r>
              <a:rPr lang="en-US" altLang="ru-RU"/>
              <a:t>: product_id, product_name, category, rating, actual_price, discounted_price, rating_count,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другие</a:t>
            </a:r>
            <a:r>
              <a:rPr lang="en-US" altLang="ru-RU"/>
              <a:t>.</a:t>
            </a:r>
            <a:endParaRPr lang="en-US" altLang="ru-RU"/>
          </a:p>
          <a:p>
            <a:endParaRPr lang="en-US" altLang="ru-RU"/>
          </a:p>
        </p:txBody>
      </p:sp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4405" y="1417955"/>
            <a:ext cx="8564880" cy="47085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" altLang="en-US" sz="3200"/>
              <a:t>Пологающие з</a:t>
            </a:r>
            <a:r>
              <a:rPr lang="en-US" altLang="en-US" sz="3200"/>
              <a:t>ависимость</a:t>
            </a:r>
            <a:r>
              <a:rPr lang="en-US" altLang="ru-RU" sz="3200"/>
              <a:t> </a:t>
            </a:r>
            <a:r>
              <a:rPr lang="en-US" altLang="en-US" sz="3200"/>
              <a:t>рейтинга</a:t>
            </a:r>
            <a:r>
              <a:rPr lang="en-US" altLang="ru-RU" sz="3200"/>
              <a:t> </a:t>
            </a:r>
            <a:r>
              <a:rPr lang="en-US" altLang="en-US" sz="3200"/>
              <a:t>от</a:t>
            </a:r>
            <a:r>
              <a:rPr lang="en-US" altLang="ru-RU" sz="3200"/>
              <a:t> </a:t>
            </a:r>
            <a:r>
              <a:rPr lang="en-US" altLang="en-US" sz="3200"/>
              <a:t>цены</a:t>
            </a:r>
            <a:r>
              <a:rPr lang="en-US" altLang="ru-RU" sz="3200"/>
              <a:t> (scatter plot)</a:t>
            </a:r>
            <a:endParaRPr lang="en-US" altLang="ru-RU" sz="3200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9740" y="1327785"/>
            <a:ext cx="3576955" cy="2719070"/>
          </a:xfrm>
          <a:prstGeom prst="rect">
            <a:avLst/>
          </a:prstGeom>
        </p:spPr>
      </p:pic>
      <p:sp>
        <p:nvSpPr>
          <p:cNvPr id="5" name="Текстовое поле 4"/>
          <p:cNvSpPr txBox="1"/>
          <p:nvPr/>
        </p:nvSpPr>
        <p:spPr>
          <a:xfrm>
            <a:off x="854710" y="4180840"/>
            <a:ext cx="3181985" cy="475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Гистограмма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распределения</a:t>
            </a:r>
            <a:r>
              <a:rPr lang="en-US" altLang="ru-RU"/>
              <a:t> </a:t>
            </a:r>
            <a:r>
              <a:rPr lang="en-US" altLang="en-US"/>
              <a:t>рейтингов</a:t>
            </a:r>
            <a:r>
              <a:rPr lang="en-US" altLang="ru-RU"/>
              <a:t> </a:t>
            </a:r>
            <a:r>
              <a:rPr lang="en-US" altLang="en-US"/>
              <a:t>товаров</a:t>
            </a:r>
            <a:r>
              <a:rPr lang="en-US" altLang="ru-RU"/>
              <a:t>.</a:t>
            </a:r>
            <a:endParaRPr lang="en-US" altLang="ru-RU"/>
          </a:p>
        </p:txBody>
      </p:sp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8030" y="1417955"/>
            <a:ext cx="3075940" cy="2628900"/>
          </a:xfrm>
          <a:prstGeom prst="rect">
            <a:avLst/>
          </a:prstGeom>
        </p:spPr>
      </p:pic>
      <p:sp>
        <p:nvSpPr>
          <p:cNvPr id="7" name="Текстовое поле 6"/>
          <p:cNvSpPr txBox="1"/>
          <p:nvPr/>
        </p:nvSpPr>
        <p:spPr>
          <a:xfrm>
            <a:off x="4476115" y="4180840"/>
            <a:ext cx="35877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" altLang="en-US"/>
              <a:t>Диаграмма размаха рейтинга</a:t>
            </a:r>
            <a:br>
              <a:rPr lang="" altLang="en-US"/>
            </a:br>
            <a:r>
              <a:rPr lang="" altLang="en-US"/>
              <a:t>Основной размах между 3</a:t>
            </a:r>
            <a:r>
              <a:rPr lang="en-US" altLang="en-US"/>
              <a:t>,9-4,3</a:t>
            </a:r>
            <a:r>
              <a:rPr lang="" altLang="en-US"/>
              <a:t>)</a:t>
            </a:r>
            <a:endParaRPr lang="" altLang="en-US"/>
          </a:p>
        </p:txBody>
      </p:sp>
      <p:pic>
        <p:nvPicPr>
          <p:cNvPr id="9" name="Изображение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5305" y="1417955"/>
            <a:ext cx="3696970" cy="2272665"/>
          </a:xfrm>
          <a:prstGeom prst="rect">
            <a:avLst/>
          </a:prstGeom>
        </p:spPr>
      </p:pic>
      <p:sp>
        <p:nvSpPr>
          <p:cNvPr id="10" name="Текстовое поле 9"/>
          <p:cNvSpPr txBox="1"/>
          <p:nvPr/>
        </p:nvSpPr>
        <p:spPr>
          <a:xfrm>
            <a:off x="8881745" y="4288155"/>
            <a:ext cx="2451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" altLang="ru-RU"/>
              <a:t>Распределение цены </a:t>
            </a:r>
            <a:endParaRPr lang="" alt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" altLang="ru-RU"/>
              <a:t>Сама зависимость </a:t>
            </a:r>
            <a:endParaRPr lang="" altLang="ru-RU"/>
          </a:p>
        </p:txBody>
      </p:sp>
      <p:pic>
        <p:nvPicPr>
          <p:cNvPr id="5" name="Замещающее содержимое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18105" y="1417955"/>
            <a:ext cx="6955790" cy="49168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3200"/>
              <a:t>Подход</a:t>
            </a:r>
            <a:r>
              <a:rPr lang="en-US" altLang="ru-RU" sz="3200"/>
              <a:t> </a:t>
            </a:r>
            <a:r>
              <a:rPr lang="en-US" altLang="en-US" sz="3200"/>
              <a:t>к</a:t>
            </a:r>
            <a:r>
              <a:rPr lang="en-US" altLang="ru-RU" sz="3200"/>
              <a:t> </a:t>
            </a:r>
            <a:r>
              <a:rPr lang="en-US" altLang="en-US" sz="3200"/>
              <a:t>предобработке</a:t>
            </a:r>
            <a:r>
              <a:rPr lang="en-US" altLang="ru-RU"/>
              <a:t> </a:t>
            </a:r>
            <a:r>
              <a:rPr lang="en-US" altLang="en-US" sz="3200"/>
              <a:t>данных</a:t>
            </a:r>
            <a:endParaRPr lang="en-US" altLang="en-US" sz="3200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548005" y="1476375"/>
            <a:ext cx="4344670" cy="1198245"/>
          </a:xfrm>
        </p:spPr>
        <p:txBody>
          <a:bodyPr/>
          <a:p>
            <a:pPr>
              <a:buFont typeface="Wingdings" panose="05000000000000000000" charset="0"/>
              <a:buChar char="ü"/>
            </a:pPr>
            <a:r>
              <a:rPr lang="en-US" altLang="en-US" sz="1200"/>
              <a:t>Предобработка</a:t>
            </a:r>
            <a:r>
              <a:rPr lang="en-US" altLang="ru-RU" sz="1200"/>
              <a:t>:</a:t>
            </a:r>
            <a:endParaRPr lang="en-US" altLang="ru-RU" sz="1200"/>
          </a:p>
          <a:p>
            <a:pPr>
              <a:buFont typeface="Wingdings" panose="05000000000000000000" charset="0"/>
              <a:buChar char="ü"/>
            </a:pPr>
            <a:r>
              <a:rPr lang="en-US" altLang="en-US" sz="1200"/>
              <a:t>Удаление</a:t>
            </a:r>
            <a:r>
              <a:rPr lang="en-US" altLang="ru-RU" sz="1200"/>
              <a:t> </a:t>
            </a:r>
            <a:r>
              <a:rPr lang="en-US" altLang="en-US" sz="1200"/>
              <a:t>пропусков</a:t>
            </a:r>
            <a:r>
              <a:rPr lang="en-US" altLang="ru-RU" sz="1200"/>
              <a:t> </a:t>
            </a:r>
            <a:r>
              <a:rPr lang="en-US" altLang="en-US" sz="1200"/>
              <a:t>в</a:t>
            </a:r>
            <a:r>
              <a:rPr lang="en-US" altLang="ru-RU" sz="1200"/>
              <a:t> </a:t>
            </a:r>
            <a:r>
              <a:rPr lang="en-US" altLang="en-US" sz="1200"/>
              <a:t>данных</a:t>
            </a:r>
            <a:r>
              <a:rPr lang="en-US" altLang="ru-RU" sz="1200"/>
              <a:t>.</a:t>
            </a:r>
            <a:endParaRPr lang="en-US" altLang="ru-RU" sz="1200"/>
          </a:p>
          <a:p>
            <a:pPr>
              <a:buFont typeface="Wingdings" panose="05000000000000000000" charset="0"/>
              <a:buChar char="ü"/>
            </a:pPr>
            <a:r>
              <a:rPr lang="en-US" altLang="en-US" sz="1200"/>
              <a:t>Обработка</a:t>
            </a:r>
            <a:r>
              <a:rPr lang="en-US" altLang="ru-RU" sz="1200"/>
              <a:t> </a:t>
            </a:r>
            <a:r>
              <a:rPr lang="en-US" altLang="en-US" sz="1200"/>
              <a:t>выбросов</a:t>
            </a:r>
            <a:r>
              <a:rPr lang="en-US" altLang="ru-RU" sz="1200"/>
              <a:t> </a:t>
            </a:r>
            <a:r>
              <a:rPr lang="en-US" altLang="en-US" sz="1200"/>
              <a:t>для</a:t>
            </a:r>
            <a:r>
              <a:rPr lang="en-US" altLang="ru-RU" sz="1200"/>
              <a:t> </a:t>
            </a:r>
            <a:r>
              <a:rPr lang="en-US" altLang="en-US" sz="1200"/>
              <a:t>цен</a:t>
            </a:r>
            <a:r>
              <a:rPr lang="en-US" altLang="ru-RU" sz="1200"/>
              <a:t> </a:t>
            </a:r>
            <a:r>
              <a:rPr lang="en-US" altLang="en-US" sz="1200"/>
              <a:t>и</a:t>
            </a:r>
            <a:r>
              <a:rPr lang="en-US" altLang="ru-RU" sz="1200"/>
              <a:t> </a:t>
            </a:r>
            <a:r>
              <a:rPr lang="en-US" altLang="en-US" sz="1200"/>
              <a:t>количества</a:t>
            </a:r>
            <a:r>
              <a:rPr lang="en-US" altLang="ru-RU" sz="1200"/>
              <a:t> </a:t>
            </a:r>
            <a:r>
              <a:rPr lang="en-US" altLang="en-US" sz="1200"/>
              <a:t>отзывов</a:t>
            </a:r>
            <a:r>
              <a:rPr lang="en-US" altLang="ru-RU" sz="1200"/>
              <a:t>.</a:t>
            </a:r>
            <a:endParaRPr lang="en-US" altLang="ru-RU" sz="1200"/>
          </a:p>
          <a:p>
            <a:pPr>
              <a:buFont typeface="Wingdings" panose="05000000000000000000" charset="0"/>
              <a:buChar char="ü"/>
            </a:pPr>
            <a:r>
              <a:rPr lang="en-US" altLang="en-US" sz="1200"/>
              <a:t>Масштабирование</a:t>
            </a:r>
            <a:r>
              <a:rPr lang="en-US" altLang="ru-RU" sz="1200"/>
              <a:t> </a:t>
            </a:r>
            <a:r>
              <a:rPr lang="en-US" altLang="en-US" sz="1200"/>
              <a:t>числовых</a:t>
            </a:r>
            <a:r>
              <a:rPr lang="en-US" altLang="ru-RU" sz="1200"/>
              <a:t> </a:t>
            </a:r>
            <a:r>
              <a:rPr lang="en-US" altLang="en-US" sz="1200"/>
              <a:t>признаков</a:t>
            </a:r>
            <a:r>
              <a:rPr lang="en-US" altLang="ru-RU" sz="1200"/>
              <a:t>.</a:t>
            </a:r>
            <a:endParaRPr lang="en-US" altLang="ru-RU" sz="1200"/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4892675" y="1370965"/>
            <a:ext cx="57219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200"/>
              <a:t>Цель</a:t>
            </a:r>
            <a:r>
              <a:rPr lang="en-US" altLang="ru-RU" sz="1200"/>
              <a:t> </a:t>
            </a:r>
            <a:r>
              <a:rPr lang="en-US" altLang="en-US" sz="1200"/>
              <a:t>данного</a:t>
            </a:r>
            <a:r>
              <a:rPr lang="en-US" altLang="ru-RU" sz="1200"/>
              <a:t> </a:t>
            </a:r>
            <a:r>
              <a:rPr lang="en-US" altLang="en-US" sz="1200"/>
              <a:t>этапа</a:t>
            </a:r>
            <a:r>
              <a:rPr lang="en-US" altLang="ru-RU" sz="1200"/>
              <a:t> — </a:t>
            </a:r>
            <a:r>
              <a:rPr lang="en-US" altLang="en-US" sz="1200"/>
              <a:t>подготовить</a:t>
            </a:r>
            <a:r>
              <a:rPr lang="en-US" altLang="ru-RU" sz="1200"/>
              <a:t> </a:t>
            </a:r>
            <a:r>
              <a:rPr lang="en-US" altLang="en-US" sz="1200"/>
              <a:t>данные</a:t>
            </a:r>
            <a:r>
              <a:rPr lang="en-US" altLang="ru-RU" sz="1200"/>
              <a:t> </a:t>
            </a:r>
            <a:r>
              <a:rPr lang="en-US" altLang="en-US" sz="1200"/>
              <a:t>для</a:t>
            </a:r>
            <a:r>
              <a:rPr lang="en-US" altLang="ru-RU" sz="1200"/>
              <a:t> </a:t>
            </a:r>
            <a:r>
              <a:rPr lang="en-US" altLang="en-US" sz="1200"/>
              <a:t>построения</a:t>
            </a:r>
            <a:r>
              <a:rPr lang="en-US" altLang="ru-RU" sz="1200"/>
              <a:t> </a:t>
            </a:r>
            <a:r>
              <a:rPr lang="en-US" altLang="en-US" sz="1200"/>
              <a:t>моделей</a:t>
            </a:r>
            <a:r>
              <a:rPr lang="en-US" altLang="ru-RU" sz="1200"/>
              <a:t> </a:t>
            </a:r>
            <a:r>
              <a:rPr lang="en-US" altLang="en-US" sz="1200"/>
              <a:t>машинного</a:t>
            </a:r>
            <a:r>
              <a:rPr lang="en-US" altLang="ru-RU" sz="1200"/>
              <a:t> </a:t>
            </a:r>
            <a:r>
              <a:rPr lang="en-US" altLang="en-US" sz="1200"/>
              <a:t>обучения</a:t>
            </a:r>
            <a:r>
              <a:rPr lang="en-US" altLang="ru-RU" sz="1200"/>
              <a:t>.</a:t>
            </a:r>
            <a:endParaRPr lang="en-US" altLang="ru-RU" sz="1200"/>
          </a:p>
          <a:p>
            <a:r>
              <a:rPr lang="en-US" altLang="en-US" sz="1200"/>
              <a:t>На</a:t>
            </a:r>
            <a:r>
              <a:rPr lang="en-US" altLang="ru-RU" sz="1200"/>
              <a:t> </a:t>
            </a:r>
            <a:r>
              <a:rPr lang="en-US" altLang="en-US" sz="1200"/>
              <a:t>этапе</a:t>
            </a:r>
            <a:r>
              <a:rPr lang="en-US" altLang="ru-RU" sz="1200"/>
              <a:t> </a:t>
            </a:r>
            <a:r>
              <a:rPr lang="en-US" altLang="en-US" sz="1200"/>
              <a:t>предобработки</a:t>
            </a:r>
            <a:r>
              <a:rPr lang="en-US" altLang="ru-RU" sz="1200"/>
              <a:t> </a:t>
            </a:r>
            <a:r>
              <a:rPr lang="en-US" altLang="en-US" sz="1200"/>
              <a:t>выполняется</a:t>
            </a:r>
            <a:r>
              <a:rPr lang="en-US" altLang="ru-RU" sz="1200"/>
              <a:t> </a:t>
            </a:r>
            <a:r>
              <a:rPr lang="en-US" altLang="en-US" sz="1200"/>
              <a:t>обработка</a:t>
            </a:r>
            <a:r>
              <a:rPr lang="en-US" altLang="ru-RU" sz="1200"/>
              <a:t> </a:t>
            </a:r>
            <a:r>
              <a:rPr lang="en-US" altLang="en-US" sz="1200"/>
              <a:t>пропущенных</a:t>
            </a:r>
            <a:r>
              <a:rPr lang="en-US" altLang="ru-RU" sz="1200"/>
              <a:t> </a:t>
            </a:r>
            <a:r>
              <a:rPr lang="en-US" altLang="en-US" sz="1200"/>
              <a:t>значений</a:t>
            </a:r>
            <a:r>
              <a:rPr lang="en-US" altLang="ru-RU" sz="1200"/>
              <a:t>, </a:t>
            </a:r>
            <a:r>
              <a:rPr lang="en-US" altLang="en-US" sz="1200"/>
              <a:t>выбросов</a:t>
            </a:r>
            <a:r>
              <a:rPr lang="en-US" altLang="ru-RU" sz="1200"/>
              <a:t>,</a:t>
            </a:r>
            <a:endParaRPr lang="en-US" altLang="ru-RU" sz="1200"/>
          </a:p>
          <a:p>
            <a:r>
              <a:rPr lang="en-US" altLang="en-US" sz="1200"/>
              <a:t>создание</a:t>
            </a:r>
            <a:r>
              <a:rPr lang="en-US" altLang="ru-RU" sz="1200"/>
              <a:t> </a:t>
            </a:r>
            <a:r>
              <a:rPr lang="en-US" altLang="en-US" sz="1200"/>
              <a:t>новых</a:t>
            </a:r>
            <a:r>
              <a:rPr lang="en-US" altLang="ru-RU" sz="1200"/>
              <a:t> </a:t>
            </a:r>
            <a:r>
              <a:rPr lang="en-US" altLang="en-US" sz="1200"/>
              <a:t>признаков</a:t>
            </a:r>
            <a:r>
              <a:rPr lang="en-US" altLang="ru-RU" sz="1200"/>
              <a:t> </a:t>
            </a:r>
            <a:r>
              <a:rPr lang="en-US" altLang="en-US" sz="1200"/>
              <a:t>и</a:t>
            </a:r>
            <a:r>
              <a:rPr lang="en-US" altLang="ru-RU" sz="1200"/>
              <a:t> </a:t>
            </a:r>
            <a:r>
              <a:rPr lang="en-US" altLang="en-US" sz="1200"/>
              <a:t>кодирование</a:t>
            </a:r>
            <a:r>
              <a:rPr lang="en-US" altLang="ru-RU" sz="1200"/>
              <a:t> </a:t>
            </a:r>
            <a:r>
              <a:rPr lang="en-US" altLang="en-US" sz="1200"/>
              <a:t>категориальных</a:t>
            </a:r>
            <a:r>
              <a:rPr lang="en-US" altLang="ru-RU" sz="1200"/>
              <a:t> </a:t>
            </a:r>
            <a:r>
              <a:rPr lang="en-US" altLang="en-US" sz="1200"/>
              <a:t>переменных</a:t>
            </a:r>
            <a:r>
              <a:rPr lang="en-US" altLang="ru-RU" sz="1200"/>
              <a:t>.</a:t>
            </a:r>
            <a:endParaRPr lang="en-US" altLang="ru-RU" sz="1200"/>
          </a:p>
        </p:txBody>
      </p:sp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005" y="2514600"/>
            <a:ext cx="4641215" cy="3554730"/>
          </a:xfrm>
          <a:prstGeom prst="rect">
            <a:avLst/>
          </a:prstGeom>
        </p:spPr>
      </p:pic>
      <p:sp>
        <p:nvSpPr>
          <p:cNvPr id="8" name="Текстовое поле 7"/>
          <p:cNvSpPr txBox="1"/>
          <p:nvPr/>
        </p:nvSpPr>
        <p:spPr>
          <a:xfrm>
            <a:off x="1955800" y="61982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" altLang="ru-RU"/>
              <a:t>Проверка</a:t>
            </a:r>
            <a:endParaRPr lang="" altLang="ru-RU"/>
          </a:p>
        </p:txBody>
      </p:sp>
      <p:pic>
        <p:nvPicPr>
          <p:cNvPr id="9" name="Изображение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2514600"/>
            <a:ext cx="4899660" cy="3554095"/>
          </a:xfrm>
          <a:prstGeom prst="rect">
            <a:avLst/>
          </a:prstGeom>
        </p:spPr>
      </p:pic>
      <p:sp>
        <p:nvSpPr>
          <p:cNvPr id="10" name="Текстовое поле 9"/>
          <p:cNvSpPr txBox="1"/>
          <p:nvPr/>
        </p:nvSpPr>
        <p:spPr>
          <a:xfrm>
            <a:off x="6913880" y="6197600"/>
            <a:ext cx="1433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" altLang="ru-RU"/>
              <a:t>Обработка</a:t>
            </a:r>
            <a:endParaRPr lang="" alt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" altLang="ru-RU" sz="3200"/>
              <a:t>Корреляция</a:t>
            </a:r>
            <a:endParaRPr lang="" altLang="ru-RU" sz="3200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900930" y="1520825"/>
            <a:ext cx="5646420" cy="4526280"/>
          </a:xfrm>
          <a:prstGeom prst="rect">
            <a:avLst/>
          </a:prstGeom>
        </p:spPr>
      </p:pic>
      <p:sp>
        <p:nvSpPr>
          <p:cNvPr id="5" name="Текстовое поле 4"/>
          <p:cNvSpPr txBox="1"/>
          <p:nvPr/>
        </p:nvSpPr>
        <p:spPr>
          <a:xfrm>
            <a:off x="1152525" y="2783840"/>
            <a:ext cx="32696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" altLang="ru-RU"/>
              <a:t>Корреляционная матрица после всех обработок</a:t>
            </a:r>
            <a:endParaRPr lang="" alt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3200"/>
              <a:t>Машинное</a:t>
            </a:r>
            <a:r>
              <a:rPr lang="en-US" altLang="ru-RU" sz="3200"/>
              <a:t> </a:t>
            </a:r>
            <a:r>
              <a:rPr lang="en-US" altLang="en-US" sz="3200"/>
              <a:t>обучение</a:t>
            </a:r>
            <a:r>
              <a:rPr lang="en-US" altLang="ru-RU" sz="3200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 sz="3200"/>
              <a:t>моделирование</a:t>
            </a:r>
            <a:endParaRPr lang="en-US" altLang="en-US" sz="3200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0025" y="2221865"/>
            <a:ext cx="3760470" cy="2617470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0845" y="2221865"/>
            <a:ext cx="3750945" cy="2617470"/>
          </a:xfrm>
          <a:prstGeom prst="rect">
            <a:avLst/>
          </a:prstGeom>
        </p:spPr>
      </p:pic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2140" y="2222500"/>
            <a:ext cx="3777615" cy="2616835"/>
          </a:xfrm>
          <a:prstGeom prst="rect">
            <a:avLst/>
          </a:prstGeom>
        </p:spPr>
      </p:pic>
      <p:sp>
        <p:nvSpPr>
          <p:cNvPr id="7" name="Текстовое поле 6"/>
          <p:cNvSpPr txBox="1"/>
          <p:nvPr/>
        </p:nvSpPr>
        <p:spPr>
          <a:xfrm>
            <a:off x="316230" y="5086350"/>
            <a:ext cx="35280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" altLang="ru-RU"/>
              <a:t>Создание целевой переменной</a:t>
            </a:r>
            <a:endParaRPr lang="" altLang="ru-RU"/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4220845" y="5086350"/>
            <a:ext cx="36379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" altLang="ru-RU"/>
              <a:t>Обучение нескольких моделей и сравнение</a:t>
            </a:r>
            <a:endParaRPr lang="" altLang="ru-RU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8717280" y="50863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" altLang="ru-RU"/>
              <a:t>Все модели справились</a:t>
            </a:r>
            <a:endParaRPr lang="" alt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" altLang="ru-RU" sz="3200"/>
              <a:t>Финальная модель </a:t>
            </a:r>
            <a:endParaRPr lang="" altLang="ru-RU" sz="3200"/>
          </a:p>
        </p:txBody>
      </p:sp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417955"/>
            <a:ext cx="7848600" cy="1857375"/>
          </a:xfrm>
          <a:prstGeom prst="rect">
            <a:avLst/>
          </a:prstGeom>
        </p:spPr>
      </p:pic>
      <p:sp>
        <p:nvSpPr>
          <p:cNvPr id="7" name="Текстовое поле 6"/>
          <p:cNvSpPr txBox="1"/>
          <p:nvPr/>
        </p:nvSpPr>
        <p:spPr>
          <a:xfrm>
            <a:off x="4394200" y="3537585"/>
            <a:ext cx="406400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" altLang="ru-RU"/>
              <a:t>Рандом форест справился лучше всего </a:t>
            </a:r>
            <a:r>
              <a:rPr lang="en-US" altLang="en-US"/>
              <a:t>так</a:t>
            </a:r>
            <a:r>
              <a:rPr lang="en-US" altLang="ru-RU"/>
              <a:t> </a:t>
            </a:r>
            <a:r>
              <a:rPr lang="en-US" altLang="en-US"/>
              <a:t>как</a:t>
            </a:r>
            <a:r>
              <a:rPr lang="en-US" altLang="ru-RU"/>
              <a:t> </a:t>
            </a:r>
            <a:r>
              <a:rPr lang="en-US" altLang="en-US"/>
              <a:t>он</a:t>
            </a:r>
            <a:r>
              <a:rPr lang="en-US" altLang="ru-RU"/>
              <a:t> </a:t>
            </a:r>
            <a:r>
              <a:rPr lang="en-US" altLang="en-US"/>
              <a:t>имеет</a:t>
            </a:r>
            <a:r>
              <a:rPr lang="en-US" altLang="ru-RU"/>
              <a:t>:</a:t>
            </a:r>
            <a:endParaRPr lang="en-US" altLang="ru-RU"/>
          </a:p>
          <a:p>
            <a:endParaRPr lang="en-US" altLang="ru-RU"/>
          </a:p>
          <a:p>
            <a:r>
              <a:rPr lang="en-US" altLang="en-US"/>
              <a:t>Самую</a:t>
            </a:r>
            <a:r>
              <a:rPr lang="en-US" altLang="ru-RU"/>
              <a:t> </a:t>
            </a:r>
            <a:r>
              <a:rPr lang="en-US" altLang="en-US"/>
              <a:t>высокую</a:t>
            </a:r>
            <a:r>
              <a:rPr lang="en-US" altLang="ru-RU"/>
              <a:t> </a:t>
            </a:r>
            <a:r>
              <a:rPr lang="en-US" altLang="en-US"/>
              <a:t>точность</a:t>
            </a:r>
            <a:r>
              <a:rPr lang="en-US" altLang="ru-RU"/>
              <a:t> (Accuracy = 0.91).</a:t>
            </a:r>
            <a:endParaRPr lang="en-US" altLang="ru-RU"/>
          </a:p>
          <a:p>
            <a:endParaRPr lang="en-US" altLang="ru-RU"/>
          </a:p>
          <a:p>
            <a:r>
              <a:rPr lang="en-US" altLang="en-US"/>
              <a:t>Высокие</a:t>
            </a:r>
            <a:r>
              <a:rPr lang="en-US" altLang="ru-RU"/>
              <a:t> </a:t>
            </a:r>
            <a:r>
              <a:rPr lang="en-US" altLang="en-US"/>
              <a:t>значения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precision, recall, </a:t>
            </a:r>
            <a:r>
              <a:rPr lang="en-US" altLang="en-US"/>
              <a:t>и</a:t>
            </a:r>
            <a:r>
              <a:rPr lang="en-US" altLang="ru-RU"/>
              <a:t> F1-score.</a:t>
            </a:r>
            <a:endParaRPr lang="en-US" alt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" altLang="ru-RU" sz="3200"/>
              <a:t>Выводы </a:t>
            </a:r>
            <a:endParaRPr lang="" altLang="ru-RU" sz="3200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43865" y="1562100"/>
            <a:ext cx="4451985" cy="3815715"/>
          </a:xfrm>
          <a:prstGeom prst="rect">
            <a:avLst/>
          </a:prstGeom>
        </p:spPr>
      </p:pic>
      <p:sp>
        <p:nvSpPr>
          <p:cNvPr id="6" name="Текстовое поле 5"/>
          <p:cNvSpPr txBox="1"/>
          <p:nvPr/>
        </p:nvSpPr>
        <p:spPr>
          <a:xfrm>
            <a:off x="1680210" y="5521960"/>
            <a:ext cx="19792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" altLang="ru-RU"/>
              <a:t>Матрица ошибок</a:t>
            </a:r>
            <a:endParaRPr lang="" altLang="ru-RU"/>
          </a:p>
        </p:txBody>
      </p:sp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430" y="1562100"/>
            <a:ext cx="6419215" cy="2921000"/>
          </a:xfrm>
          <a:prstGeom prst="rect">
            <a:avLst/>
          </a:prstGeom>
        </p:spPr>
      </p:pic>
      <p:sp>
        <p:nvSpPr>
          <p:cNvPr id="10" name="Текстовое поле 9"/>
          <p:cNvSpPr txBox="1"/>
          <p:nvPr/>
        </p:nvSpPr>
        <p:spPr>
          <a:xfrm>
            <a:off x="5352415" y="4483100"/>
            <a:ext cx="6229985" cy="1295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1200"/>
              <a:t>На</a:t>
            </a:r>
            <a:r>
              <a:rPr lang="en-US" altLang="ru-RU" sz="1200"/>
              <a:t> </a:t>
            </a:r>
            <a:r>
              <a:rPr lang="en-US" altLang="en-US" sz="1200"/>
              <a:t>основе</a:t>
            </a:r>
            <a:r>
              <a:rPr lang="en-US" altLang="ru-RU" sz="1200"/>
              <a:t> </a:t>
            </a:r>
            <a:r>
              <a:rPr lang="en-US" altLang="en-US" sz="1200"/>
              <a:t>модели</a:t>
            </a:r>
            <a:r>
              <a:rPr lang="en-US" altLang="ru-RU" sz="1200"/>
              <a:t> </a:t>
            </a:r>
            <a:r>
              <a:rPr lang="en-US" altLang="en-US" sz="1200"/>
              <a:t>можно</a:t>
            </a:r>
            <a:r>
              <a:rPr lang="en-US" altLang="ru-RU" sz="1200"/>
              <a:t>:</a:t>
            </a:r>
            <a:endParaRPr lang="en-US" altLang="ru-RU" sz="1200"/>
          </a:p>
          <a:p>
            <a:r>
              <a:rPr lang="en-US" altLang="ru-RU" sz="1200"/>
              <a:t>- </a:t>
            </a:r>
            <a:r>
              <a:rPr lang="en-US" altLang="en-US" sz="1200"/>
              <a:t>выделять</a:t>
            </a:r>
            <a:r>
              <a:rPr lang="en-US" altLang="ru-RU" sz="1200"/>
              <a:t> </a:t>
            </a:r>
            <a:r>
              <a:rPr lang="en-US" altLang="en-US" sz="1200"/>
              <a:t>товары</a:t>
            </a:r>
            <a:r>
              <a:rPr lang="en-US" altLang="ru-RU" sz="1200"/>
              <a:t> </a:t>
            </a:r>
            <a:r>
              <a:rPr lang="en-US" altLang="en-US" sz="1200"/>
              <a:t>с</a:t>
            </a:r>
            <a:r>
              <a:rPr lang="en-US" altLang="ru-RU" sz="1200"/>
              <a:t> </a:t>
            </a:r>
            <a:r>
              <a:rPr lang="en-US" altLang="en-US" sz="1200"/>
              <a:t>высоким</a:t>
            </a:r>
            <a:r>
              <a:rPr lang="en-US" altLang="ru-RU" sz="1200"/>
              <a:t> </a:t>
            </a:r>
            <a:r>
              <a:rPr lang="en-US" altLang="en-US" sz="1200"/>
              <a:t>потенциалом</a:t>
            </a:r>
            <a:r>
              <a:rPr lang="en-US" altLang="ru-RU" sz="1200"/>
              <a:t> (high_rating = 1) </a:t>
            </a:r>
            <a:r>
              <a:rPr lang="en-US" altLang="en-US" sz="1200"/>
              <a:t>для</a:t>
            </a:r>
            <a:r>
              <a:rPr lang="en-US" altLang="ru-RU" sz="1200"/>
              <a:t> </a:t>
            </a:r>
            <a:r>
              <a:rPr lang="en-US" altLang="en-US" sz="1200"/>
              <a:t>продвижения</a:t>
            </a:r>
            <a:r>
              <a:rPr lang="en-US" altLang="ru-RU" sz="1200"/>
              <a:t> </a:t>
            </a:r>
            <a:r>
              <a:rPr lang="en-US" altLang="en-US" sz="1200"/>
              <a:t>и</a:t>
            </a:r>
            <a:r>
              <a:rPr lang="en-US" altLang="ru-RU" sz="1200"/>
              <a:t> </a:t>
            </a:r>
            <a:r>
              <a:rPr lang="en-US" altLang="en-US" sz="1200"/>
              <a:t>рекламы</a:t>
            </a:r>
            <a:r>
              <a:rPr lang="en-US" altLang="ru-RU" sz="1200"/>
              <a:t>;</a:t>
            </a:r>
            <a:endParaRPr lang="en-US" altLang="ru-RU" sz="1200"/>
          </a:p>
          <a:p>
            <a:r>
              <a:rPr lang="en-US" altLang="ru-RU" sz="1200"/>
              <a:t>- </a:t>
            </a:r>
            <a:r>
              <a:rPr lang="en-US" altLang="en-US" sz="1200"/>
              <a:t>оценивать</a:t>
            </a:r>
            <a:r>
              <a:rPr lang="en-US" altLang="ru-RU" sz="1200"/>
              <a:t> </a:t>
            </a:r>
            <a:r>
              <a:rPr lang="en-US" altLang="en-US" sz="1200"/>
              <a:t>влияние</a:t>
            </a:r>
            <a:r>
              <a:rPr lang="en-US" altLang="ru-RU" sz="1200"/>
              <a:t> </a:t>
            </a:r>
            <a:r>
              <a:rPr lang="en-US" altLang="en-US" sz="1200"/>
              <a:t>цены</a:t>
            </a:r>
            <a:r>
              <a:rPr lang="en-US" altLang="ru-RU" sz="1200"/>
              <a:t>/</a:t>
            </a:r>
            <a:r>
              <a:rPr lang="en-US" altLang="en-US" sz="1200"/>
              <a:t>скидки</a:t>
            </a:r>
            <a:r>
              <a:rPr lang="en-US" altLang="ru-RU" sz="1200"/>
              <a:t>/</a:t>
            </a:r>
            <a:r>
              <a:rPr lang="en-US" altLang="en-US" sz="1200"/>
              <a:t>популярности</a:t>
            </a:r>
            <a:r>
              <a:rPr lang="en-US" altLang="ru-RU" sz="1200"/>
              <a:t> (rating_count) </a:t>
            </a:r>
            <a:r>
              <a:rPr lang="en-US" altLang="en-US" sz="1200"/>
              <a:t>на</a:t>
            </a:r>
            <a:r>
              <a:rPr lang="en-US" altLang="ru-RU" sz="1200"/>
              <a:t> </a:t>
            </a:r>
            <a:r>
              <a:rPr lang="en-US" altLang="en-US" sz="1200"/>
              <a:t>вероятность</a:t>
            </a:r>
            <a:r>
              <a:rPr lang="en-US" altLang="ru-RU" sz="1200"/>
              <a:t> </a:t>
            </a:r>
            <a:r>
              <a:rPr lang="en-US" altLang="en-US" sz="1200"/>
              <a:t>высокого</a:t>
            </a:r>
            <a:r>
              <a:rPr lang="en-US" altLang="ru-RU" sz="1200"/>
              <a:t> </a:t>
            </a:r>
            <a:r>
              <a:rPr lang="en-US" altLang="en-US" sz="1200"/>
              <a:t>рейтинга</a:t>
            </a:r>
            <a:r>
              <a:rPr lang="en-US" altLang="ru-RU" sz="1200"/>
              <a:t>;</a:t>
            </a:r>
            <a:endParaRPr lang="en-US" altLang="ru-RU" sz="1200"/>
          </a:p>
          <a:p>
            <a:r>
              <a:rPr lang="en-US" altLang="ru-RU" sz="1200"/>
              <a:t>- </a:t>
            </a:r>
            <a:r>
              <a:rPr lang="en-US" altLang="en-US" sz="1200"/>
              <a:t>использовать</a:t>
            </a:r>
            <a:r>
              <a:rPr lang="en-US" altLang="ru-RU" sz="1200"/>
              <a:t> </a:t>
            </a:r>
            <a:r>
              <a:rPr lang="en-US" altLang="en-US" sz="1200"/>
              <a:t>модель</a:t>
            </a:r>
            <a:r>
              <a:rPr lang="en-US" altLang="ru-RU" sz="1200"/>
              <a:t> </a:t>
            </a:r>
            <a:r>
              <a:rPr lang="en-US" altLang="en-US" sz="1200"/>
              <a:t>как</a:t>
            </a:r>
            <a:r>
              <a:rPr lang="en-US" altLang="ru-RU" sz="1200"/>
              <a:t> </a:t>
            </a:r>
            <a:r>
              <a:rPr lang="en-US" altLang="en-US" sz="1200"/>
              <a:t>инструмент</a:t>
            </a:r>
            <a:r>
              <a:rPr lang="en-US" altLang="ru-RU" sz="1200"/>
              <a:t> </a:t>
            </a:r>
            <a:r>
              <a:rPr lang="en-US" altLang="en-US" sz="1200"/>
              <a:t>при</a:t>
            </a:r>
            <a:r>
              <a:rPr lang="en-US" altLang="ru-RU" sz="1200"/>
              <a:t> </a:t>
            </a:r>
            <a:r>
              <a:rPr lang="en-US" altLang="en-US" sz="1200"/>
              <a:t>формировании</a:t>
            </a:r>
            <a:r>
              <a:rPr lang="en-US" altLang="ru-RU" sz="1200"/>
              <a:t> </a:t>
            </a:r>
            <a:r>
              <a:rPr lang="en-US" altLang="en-US" sz="1200"/>
              <a:t>ассортимента</a:t>
            </a:r>
            <a:r>
              <a:rPr lang="en-US" altLang="ru-RU" sz="1200"/>
              <a:t> </a:t>
            </a:r>
            <a:r>
              <a:rPr lang="en-US" altLang="en-US" sz="1200"/>
              <a:t>и</a:t>
            </a:r>
            <a:r>
              <a:rPr lang="en-US" altLang="ru-RU" sz="1200"/>
              <a:t> </a:t>
            </a:r>
            <a:r>
              <a:rPr lang="en-US" altLang="en-US" sz="1200"/>
              <a:t>приоритизации</a:t>
            </a:r>
            <a:r>
              <a:rPr lang="en-US" altLang="ru-RU" sz="1200"/>
              <a:t> </a:t>
            </a:r>
            <a:r>
              <a:rPr lang="en-US" altLang="en-US" sz="1200"/>
              <a:t>товаров</a:t>
            </a:r>
            <a:r>
              <a:rPr lang="en-US" altLang="ru-RU" sz="1200"/>
              <a:t> </a:t>
            </a:r>
            <a:r>
              <a:rPr lang="en-US" altLang="en-US" sz="1200"/>
              <a:t>в</a:t>
            </a:r>
            <a:r>
              <a:rPr lang="en-US" altLang="ru-RU" sz="1200"/>
              <a:t> </a:t>
            </a:r>
            <a:r>
              <a:rPr lang="en-US" altLang="en-US" sz="1200"/>
              <a:t>каталоге</a:t>
            </a:r>
            <a:r>
              <a:rPr lang="en-US" altLang="ru-RU" sz="1200"/>
              <a:t>.</a:t>
            </a:r>
            <a:endParaRPr lang="en-US" altLang="ru-RU" sz="1200"/>
          </a:p>
          <a:p>
            <a:endParaRPr lang="en-US" altLang="ru-RU" sz="1200"/>
          </a:p>
          <a:p>
            <a:r>
              <a:rPr lang="en-US" altLang="en-US" sz="1200"/>
              <a:t>Для</a:t>
            </a:r>
            <a:r>
              <a:rPr lang="en-US" altLang="ru-RU" sz="1200"/>
              <a:t> </a:t>
            </a:r>
            <a:r>
              <a:rPr lang="en-US" altLang="en-US" sz="1200"/>
              <a:t>бизнеса</a:t>
            </a:r>
            <a:r>
              <a:rPr lang="en-US" altLang="ru-RU" sz="1200"/>
              <a:t> </a:t>
            </a:r>
            <a:r>
              <a:rPr lang="en-US" altLang="en-US" sz="1200"/>
              <a:t>это</a:t>
            </a:r>
            <a:r>
              <a:rPr lang="en-US" altLang="ru-RU" sz="1200"/>
              <a:t> </a:t>
            </a:r>
            <a:r>
              <a:rPr lang="en-US" altLang="en-US" sz="1200"/>
              <a:t>помогает</a:t>
            </a:r>
            <a:r>
              <a:rPr lang="en-US" altLang="ru-RU" sz="1200"/>
              <a:t> </a:t>
            </a:r>
            <a:r>
              <a:rPr lang="en-US" altLang="en-US" sz="1200"/>
              <a:t>лучше</a:t>
            </a:r>
            <a:r>
              <a:rPr lang="en-US" altLang="ru-RU" sz="1200"/>
              <a:t> </a:t>
            </a:r>
            <a:r>
              <a:rPr lang="en-US" altLang="en-US" sz="1200"/>
              <a:t>понимать</a:t>
            </a:r>
            <a:r>
              <a:rPr lang="en-US" altLang="ru-RU" sz="1200"/>
              <a:t>, </a:t>
            </a:r>
            <a:r>
              <a:rPr lang="en-US" altLang="en-US" sz="1200"/>
              <a:t>какие</a:t>
            </a:r>
            <a:r>
              <a:rPr lang="en-US" altLang="ru-RU" sz="1200"/>
              <a:t> </a:t>
            </a:r>
            <a:r>
              <a:rPr lang="en-US" altLang="en-US" sz="1200"/>
              <a:t>характеристики</a:t>
            </a:r>
            <a:r>
              <a:rPr lang="en-US" altLang="ru-RU" sz="1200"/>
              <a:t> </a:t>
            </a:r>
            <a:r>
              <a:rPr lang="en-US" altLang="en-US" sz="1200"/>
              <a:t>чаще</a:t>
            </a:r>
            <a:r>
              <a:rPr lang="en-US" altLang="ru-RU" sz="1200"/>
              <a:t> </a:t>
            </a:r>
            <a:r>
              <a:rPr lang="en-US" altLang="en-US" sz="1200"/>
              <a:t>встречаются</a:t>
            </a:r>
            <a:r>
              <a:rPr lang="en-US" altLang="ru-RU" sz="1200"/>
              <a:t> </a:t>
            </a:r>
            <a:r>
              <a:rPr lang="en-US" altLang="en-US" sz="1200"/>
              <a:t>у</a:t>
            </a:r>
            <a:r>
              <a:rPr lang="en-US" altLang="ru-RU" sz="1200"/>
              <a:t> </a:t>
            </a:r>
            <a:r>
              <a:rPr lang="en-US" altLang="en-US" sz="1200"/>
              <a:t>высоко</a:t>
            </a:r>
            <a:r>
              <a:rPr lang="en-US" altLang="ru-RU" sz="1200"/>
              <a:t> </a:t>
            </a:r>
            <a:r>
              <a:rPr lang="en-US" altLang="en-US" sz="1200"/>
              <a:t>оценённых</a:t>
            </a:r>
            <a:r>
              <a:rPr lang="en-US" altLang="ru-RU" sz="1200"/>
              <a:t> </a:t>
            </a:r>
            <a:r>
              <a:rPr lang="en-US" altLang="en-US" sz="1200"/>
              <a:t>товаров</a:t>
            </a:r>
            <a:r>
              <a:rPr lang="en-US" altLang="ru-RU" sz="1200"/>
              <a:t>,</a:t>
            </a:r>
            <a:endParaRPr lang="en-US" altLang="ru-RU" sz="1200"/>
          </a:p>
          <a:p>
            <a:r>
              <a:rPr lang="en-US" altLang="en-US" sz="1200"/>
              <a:t>и</a:t>
            </a:r>
            <a:r>
              <a:rPr lang="en-US" altLang="ru-RU" sz="1200"/>
              <a:t> </a:t>
            </a:r>
            <a:r>
              <a:rPr lang="en-US" altLang="en-US" sz="1200"/>
              <a:t>принимать</a:t>
            </a:r>
            <a:r>
              <a:rPr lang="en-US" altLang="ru-RU" sz="1200"/>
              <a:t> </a:t>
            </a:r>
            <a:r>
              <a:rPr lang="en-US" altLang="en-US" sz="1200"/>
              <a:t>решения</a:t>
            </a:r>
            <a:r>
              <a:rPr lang="en-US" altLang="ru-RU" sz="1200"/>
              <a:t> </a:t>
            </a:r>
            <a:r>
              <a:rPr lang="en-US" altLang="en-US" sz="1200"/>
              <a:t>по</a:t>
            </a:r>
            <a:r>
              <a:rPr lang="en-US" altLang="ru-RU" sz="1200"/>
              <a:t> </a:t>
            </a:r>
            <a:r>
              <a:rPr lang="en-US" altLang="en-US" sz="1200"/>
              <a:t>маркетингу</a:t>
            </a:r>
            <a:r>
              <a:rPr lang="en-US" altLang="ru-RU" sz="1200"/>
              <a:t> </a:t>
            </a:r>
            <a:r>
              <a:rPr lang="en-US" altLang="en-US" sz="1200"/>
              <a:t>и</a:t>
            </a:r>
            <a:r>
              <a:rPr lang="en-US" altLang="ru-RU" sz="1200"/>
              <a:t> </a:t>
            </a:r>
            <a:r>
              <a:rPr lang="en-US" altLang="en-US" sz="1200"/>
              <a:t>управлению</a:t>
            </a:r>
            <a:r>
              <a:rPr lang="en-US" altLang="ru-RU" sz="1200"/>
              <a:t> </a:t>
            </a:r>
            <a:r>
              <a:rPr lang="en-US" altLang="en-US" sz="1200"/>
              <a:t>ассортиментом</a:t>
            </a:r>
            <a:r>
              <a:rPr lang="en-US" altLang="ru-RU" sz="1200"/>
              <a:t>.</a:t>
            </a:r>
            <a:endParaRPr lang="en-US" altLang="ru-RU"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" altLang="ru-RU"/>
              <a:t>Спасибо за внимание </a:t>
            </a:r>
            <a:endParaRPr lang="" alt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1383030" y="1977390"/>
            <a:ext cx="10199370" cy="4526280"/>
          </a:xfrm>
        </p:spPr>
        <p:txBody>
          <a:bodyPr/>
          <a:p>
            <a:pPr marL="0" indent="0">
              <a:buNone/>
            </a:pPr>
            <a:r>
              <a:rPr lang="" altLang="ru-RU"/>
              <a:t>Для подробного просмотра проекта пройдите в репозиторий</a:t>
            </a:r>
            <a:r>
              <a:rPr lang="en-US" altLang="ru-RU"/>
              <a:t>:</a:t>
            </a:r>
            <a:r>
              <a:rPr lang="" altLang="ru-RU"/>
              <a:t> </a:t>
            </a:r>
            <a:endParaRPr lang="" altLang="ru-RU"/>
          </a:p>
          <a:p>
            <a:pPr marL="0" indent="0">
              <a:buNone/>
            </a:pPr>
            <a:r>
              <a:rPr lang="en-US" altLang="ru-RU"/>
              <a:t>https://github.com/nikitaclebnev-art/amazon-ml-project</a:t>
            </a:r>
            <a:endParaRPr lang="en-US" alt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siness Cooperat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usiness Cooper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2022</Words>
  <Application>WPS Presentation</Application>
  <PresentationFormat>宽屏</PresentationFormat>
  <Paragraphs>94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Wingdings</vt:lpstr>
      <vt:lpstr>Consolas</vt:lpstr>
      <vt:lpstr>Business Cooperate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Admin</cp:lastModifiedBy>
  <cp:revision>4</cp:revision>
  <dcterms:created xsi:type="dcterms:W3CDTF">2025-07-23T00:59:00Z</dcterms:created>
  <dcterms:modified xsi:type="dcterms:W3CDTF">2025-12-17T06:30:52Z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1049-12.2.0.23155</vt:lpwstr>
  </property>
  <property fmtid="{D5CDD505-2E9C-101B-9397-08002B2CF9AE}" pid="3" name="ICV">
    <vt:lpwstr>F3808DDEFCFD4D93BA981E6E5379D9DD_11</vt:lpwstr>
  </property>
</Properties>
</file>